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embeddedFontLst>
    <p:embeddedFont>
      <p:font typeface="Open Sans ExtraBold"/>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OpenSansExtraBold-boldItalic.fntdata"/><Relationship Id="rId27" Type="http://schemas.openxmlformats.org/officeDocument/2006/relationships/font" Target="fonts/OpenSans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8d0f6de4b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18d0f6de4b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18d0f6de4b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8d0f6de4b_0_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8d0f6de4b_0_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18d0f6de4b_0_1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8d0f6de4b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8d0f6de4b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18d0f6de4b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Department of Computer</a:t>
            </a:r>
            <a:r>
              <a:rPr lang="en-US" sz="1600">
                <a:solidFill>
                  <a:srgbClr val="FFFFFF"/>
                </a:solidFill>
                <a:latin typeface="Calibri"/>
                <a:ea typeface="Calibri"/>
                <a:cs typeface="Calibri"/>
                <a:sym typeface="Calibri"/>
              </a:rPr>
              <a:t>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3"/>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ieeexplore.ieee.org/document/9985774" TargetMode="External"/><Relationship Id="rId4" Type="http://schemas.openxmlformats.org/officeDocument/2006/relationships/hyperlink" Target="https://ieeexplore.ieee.org/document/967608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9141"/>
            <a:chOff x="-14748" y="986564"/>
            <a:chExt cx="9158748" cy="5149141"/>
          </a:xfrm>
        </p:grpSpPr>
        <p:sp>
          <p:nvSpPr>
            <p:cNvPr id="90" name="Google Shape;90;p13"/>
            <p:cNvSpPr txBox="1"/>
            <p:nvPr/>
          </p:nvSpPr>
          <p:spPr>
            <a:xfrm>
              <a:off x="177781" y="4812105"/>
              <a:ext cx="43221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220701271</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 Shreya Mridula</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Guide Name</a:t>
              </a:r>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Designation and Department</a:t>
              </a:r>
              <a:endParaRPr b="1" sz="200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Introduction to </a:t>
                  </a:r>
                  <a:endParaRPr/>
                </a:p>
                <a:p>
                  <a:pPr indent="0" lvl="0" marL="0" marR="0" rtl="0" algn="ctr">
                    <a:spcBef>
                      <a:spcPts val="0"/>
                    </a:spcBef>
                    <a:spcAft>
                      <a:spcPts val="0"/>
                    </a:spcAft>
                    <a:buNone/>
                  </a:pPr>
                  <a:r>
                    <a:rPr b="1" lang="en-US" sz="2000">
                      <a:solidFill>
                        <a:schemeClr val="lt1"/>
                      </a:solidFill>
                      <a:latin typeface="Calibri"/>
                      <a:ea typeface="Calibri"/>
                      <a:cs typeface="Calibri"/>
                      <a:sym typeface="Calibri"/>
                    </a:rPr>
                    <a:t>Robotic Process Automation </a:t>
                  </a:r>
                  <a:endParaRPr b="1" sz="2000">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3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5400">
                    <a:solidFill>
                      <a:schemeClr val="lt1"/>
                    </a:solidFill>
                    <a:latin typeface="Calibri"/>
                    <a:ea typeface="Calibri"/>
                    <a:cs typeface="Calibri"/>
                    <a:sym typeface="Calibri"/>
                  </a:rPr>
                  <a:t>Event</a:t>
                </a:r>
                <a:endParaRPr b="1" sz="5400">
                  <a:solidFill>
                    <a:schemeClr val="lt1"/>
                  </a:solidFill>
                  <a:latin typeface="Calibri"/>
                  <a:ea typeface="Calibri"/>
                  <a:cs typeface="Calibri"/>
                  <a:sym typeface="Calibri"/>
                </a:endParaRPr>
              </a:p>
              <a:p>
                <a:pPr indent="0" lvl="0" marL="0" marR="0" rtl="0" algn="l">
                  <a:spcBef>
                    <a:spcPts val="0"/>
                  </a:spcBef>
                  <a:spcAft>
                    <a:spcPts val="0"/>
                  </a:spcAft>
                  <a:buNone/>
                </a:pPr>
                <a:r>
                  <a:rPr b="1" lang="en-US" sz="5400">
                    <a:solidFill>
                      <a:schemeClr val="lt1"/>
                    </a:solidFill>
                    <a:latin typeface="Calibri"/>
                    <a:ea typeface="Calibri"/>
                    <a:cs typeface="Calibri"/>
                    <a:sym typeface="Calibri"/>
                  </a:rPr>
                  <a:t>Notifier</a:t>
                </a:r>
                <a:endParaRPr b="1" sz="5400">
                  <a:solidFill>
                    <a:schemeClr val="lt1"/>
                  </a:solidFill>
                  <a:latin typeface="Calibri"/>
                  <a:ea typeface="Calibri"/>
                  <a:cs typeface="Calibri"/>
                  <a:sym typeface="Calibri"/>
                </a:endParaRPr>
              </a:p>
            </p:txBody>
          </p:sp>
          <p:sp>
            <p:nvSpPr>
              <p:cNvPr id="98" name="Google Shape;98;p13"/>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b="0" l="0" r="0" t="0"/>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20000"/>
          </a:bodyPr>
          <a:lstStyle/>
          <a:p>
            <a:pPr indent="0" lvl="0" marL="177800" marR="419100" rtl="0" algn="l">
              <a:lnSpc>
                <a:spcPct val="150000"/>
              </a:lnSpc>
              <a:spcBef>
                <a:spcPts val="1000"/>
              </a:spcBef>
              <a:spcAft>
                <a:spcPts val="0"/>
              </a:spcAft>
              <a:buClr>
                <a:schemeClr val="dk1"/>
              </a:buClr>
              <a:buSzPts val="1100"/>
              <a:buFont typeface="Arial"/>
              <a:buNone/>
            </a:pPr>
            <a:r>
              <a:rPr lang="en-US"/>
              <a:t>The goal of this project is to develop a UiPath automation workflow that enhances the management of event schedules and ensures timely reminders for stakeholders. The automation will start by extracting event data from college event website. It will then process this data to identify key event details, such as dates, times, and locations, ensuring the information is accurate and up-to-date.</a:t>
            </a:r>
            <a:r>
              <a:rPr lang="en-US" sz="1100">
                <a:latin typeface="Times New Roman"/>
                <a:ea typeface="Times New Roman"/>
                <a:cs typeface="Times New Roman"/>
                <a:sym typeface="Times New Roman"/>
              </a:rPr>
              <a:t>.</a:t>
            </a:r>
            <a:r>
              <a:rPr lang="en-US">
                <a:latin typeface="Times New Roman"/>
                <a:ea typeface="Times New Roman"/>
                <a:cs typeface="Times New Roman"/>
                <a:sym typeface="Times New Roman"/>
              </a:rPr>
              <a:t> </a:t>
            </a:r>
            <a:r>
              <a:rPr lang="en-US"/>
              <a:t>Once the event schedule is validated, the bot will generate and send reminders to relevant participants, including organizers, attendees, and administrators. These reminders can be delivered via emails.</a:t>
            </a:r>
            <a:endParaRPr/>
          </a:p>
          <a:p>
            <a:pPr indent="0" lvl="0" marL="0" rtl="0" algn="l">
              <a:lnSpc>
                <a:spcPct val="114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4000"/>
              </a:lnSpc>
              <a:spcBef>
                <a:spcPts val="0"/>
              </a:spcBef>
              <a:spcAft>
                <a:spcPts val="0"/>
              </a:spcAft>
              <a:buNone/>
            </a:pPr>
            <a:r>
              <a:rPr lang="en-US"/>
              <a:t>The need for an event notifier arises from the increasing complexity of managing schedules in both personal and professional environments. In today’s interconnected world, individuals often juggle multiple commitments, while organizations deal with overlapping meetings, deadlines, and project timelines. Without an efficient system to track and coordinate these events, the risk of missed appointments, double bookings, or forgotten tasks increases significantly, leading to wasted time, reduced productivity, and missed opportunities.</a:t>
            </a:r>
            <a:endParaRPr/>
          </a:p>
          <a:p>
            <a:pPr indent="0" lvl="0" marL="0" rtl="0" algn="l">
              <a:lnSpc>
                <a:spcPct val="115000"/>
              </a:lnSpc>
              <a:spcBef>
                <a:spcPts val="1200"/>
              </a:spcBef>
              <a:spcAft>
                <a:spcPts val="1200"/>
              </a:spcAft>
              <a:buNone/>
            </a:pPr>
            <a:r>
              <a:rPr lang="en-US"/>
              <a:t>Manual management of schedules across various platforms, such as calendars, emails, and messaging apps, can be tedious and error-prone. Users must continuously check for updates, detect conflicts, and ensure timely reminders, which can quickly become overwhelming. An event notifier addresses these challenges by automating the entire process, offering a reliable and consistent solution to track events, send alerts, and prevent conflicts without the need for constant manual intervention.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4000"/>
              </a:lnSpc>
              <a:spcBef>
                <a:spcPts val="0"/>
              </a:spcBef>
              <a:spcAft>
                <a:spcPts val="0"/>
              </a:spcAft>
              <a:buNone/>
            </a:pPr>
            <a:r>
              <a:rPr lang="en-US"/>
              <a:t>The proposed event notifier model offers significant advantages by automating schedule management and ensuring seamless coordination. It saves time by eliminating manual tasks such as conflict detection and notification delivery, allowing users to focus on more important activities. With its ability to proactively identify scheduling conflicts, the model prevents double bookings and miscommunication, enhancing overall efficiency. Automated, timely notifications keep users informed and prepared for upcoming events, reducing the risk of missed appointments. Additionally, its multi-platform integration and scalability make it adaptable for both personal and organizational use, providing a reliable, customizable solution for managing complex schedules.</a:t>
            </a:r>
            <a:endParaRPr/>
          </a:p>
          <a:p>
            <a:pPr indent="0" lvl="0" marL="0" rtl="0" algn="l">
              <a:lnSpc>
                <a:spcPct val="114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27" name="Google Shape;127;p1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342900" rtl="0" algn="l">
              <a:lnSpc>
                <a:spcPct val="114000"/>
              </a:lnSpc>
              <a:spcBef>
                <a:spcPts val="0"/>
              </a:spcBef>
              <a:spcAft>
                <a:spcPts val="0"/>
              </a:spcAft>
              <a:buNone/>
            </a:pPr>
            <a:r>
              <a:rPr lang="en-US"/>
              <a:t>The main objective of the proposed event notifier is to streamline and automate the process of managing schedules and notifications, ensuring timely reminders, conflict-free planning, and efficient coordination across multiple platforms. By leveraging UiPath’s automation capabilities, the solution aims to reduce manual effort, enhance productivity, and provide a reliable system for tracking events and appointments, ultimately enabling individuals and organizations to stay organized and make better use of their time.</a:t>
            </a:r>
            <a:endParaRPr/>
          </a:p>
          <a:p>
            <a:pPr indent="0" lvl="0" marL="0" rtl="0" algn="l">
              <a:lnSpc>
                <a:spcPct val="115000"/>
              </a:lnSpc>
              <a:spcBef>
                <a:spcPts val="0"/>
              </a:spcBef>
              <a:spcAft>
                <a:spcPts val="0"/>
              </a:spcAft>
              <a:buNone/>
            </a:pPr>
            <a:r>
              <a:t/>
            </a:r>
            <a:endParaRPr/>
          </a:p>
          <a:p>
            <a:pPr indent="0" lvl="0" marL="0" rtl="0" algn="l">
              <a:lnSpc>
                <a:spcPct val="114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34" name="Google Shape;134;p18"/>
          <p:cNvSpPr txBox="1"/>
          <p:nvPr>
            <p:ph idx="1" type="body"/>
          </p:nvPr>
        </p:nvSpPr>
        <p:spPr>
          <a:xfrm>
            <a:off x="130950" y="10162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Architecture</a:t>
            </a:r>
            <a:endParaRPr/>
          </a:p>
          <a:p>
            <a:pPr indent="0" lvl="0" marL="0" rtl="0" algn="l">
              <a:lnSpc>
                <a:spcPct val="114000"/>
              </a:lnSpc>
              <a:spcBef>
                <a:spcPts val="0"/>
              </a:spcBef>
              <a:spcAft>
                <a:spcPts val="0"/>
              </a:spcAft>
              <a:buNone/>
            </a:pPr>
            <a:r>
              <a:rPr lang="en-US"/>
              <a:t>diagram</a:t>
            </a:r>
            <a:endParaRPr/>
          </a:p>
        </p:txBody>
      </p:sp>
      <p:pic>
        <p:nvPicPr>
          <p:cNvPr id="135" name="Google Shape;135;p18"/>
          <p:cNvPicPr preferRelativeResize="0"/>
          <p:nvPr/>
        </p:nvPicPr>
        <p:blipFill rotWithShape="1">
          <a:blip r:embed="rId3">
            <a:alphaModFix/>
          </a:blip>
          <a:srcRect b="15648" l="0" r="0" t="16166"/>
          <a:stretch/>
        </p:blipFill>
        <p:spPr>
          <a:xfrm>
            <a:off x="2634725" y="1107275"/>
            <a:ext cx="4608150" cy="4896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2" name="Google Shape;142;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14000"/>
              </a:lnSpc>
              <a:spcBef>
                <a:spcPts val="480"/>
              </a:spcBef>
              <a:spcAft>
                <a:spcPts val="0"/>
              </a:spcAft>
              <a:buNone/>
            </a:pPr>
            <a:r>
              <a:t/>
            </a:r>
            <a:endParaRPr/>
          </a:p>
          <a:p>
            <a:pPr indent="0" lvl="0" marL="0" rtl="0" algn="l">
              <a:lnSpc>
                <a:spcPct val="115000"/>
              </a:lnSpc>
              <a:spcBef>
                <a:spcPts val="1200"/>
              </a:spcBef>
              <a:spcAft>
                <a:spcPts val="0"/>
              </a:spcAft>
              <a:buNone/>
            </a:pPr>
            <a:r>
              <a:rPr b="1" lang="en-US">
                <a:latin typeface="Arial"/>
                <a:ea typeface="Arial"/>
                <a:cs typeface="Arial"/>
                <a:sym typeface="Arial"/>
              </a:rPr>
              <a:t>Hardware Requirements:</a:t>
            </a:r>
            <a:endParaRPr b="1">
              <a:latin typeface="Arial"/>
              <a:ea typeface="Arial"/>
              <a:cs typeface="Arial"/>
              <a:sym typeface="Arial"/>
            </a:endParaRPr>
          </a:p>
          <a:p>
            <a:pPr indent="-323850" lvl="0" marL="457200" rtl="0" algn="l">
              <a:lnSpc>
                <a:spcPct val="115000"/>
              </a:lnSpc>
              <a:spcBef>
                <a:spcPts val="1200"/>
              </a:spcBef>
              <a:spcAft>
                <a:spcPts val="0"/>
              </a:spcAft>
              <a:buSzPct val="100000"/>
              <a:buFont typeface="Arial"/>
              <a:buAutoNum type="arabicPeriod"/>
            </a:pPr>
            <a:r>
              <a:rPr b="1" lang="en-US">
                <a:latin typeface="Arial"/>
                <a:ea typeface="Arial"/>
                <a:cs typeface="Arial"/>
                <a:sym typeface="Arial"/>
              </a:rPr>
              <a:t>Processor</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Minimum: Intel Core i3 or equivalent</a:t>
            </a:r>
            <a:endParaRPr sz="2400">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Recommended: Intel Core i5/i7 or equivalent (for better performance)</a:t>
            </a:r>
            <a:endParaRPr sz="2400">
              <a:latin typeface="Arial"/>
              <a:ea typeface="Arial"/>
              <a:cs typeface="Arial"/>
              <a:sym typeface="Arial"/>
            </a:endParaRPr>
          </a:p>
          <a:p>
            <a:pPr indent="-323850" lvl="0" marL="457200" rtl="0" algn="l">
              <a:lnSpc>
                <a:spcPct val="115000"/>
              </a:lnSpc>
              <a:spcBef>
                <a:spcPts val="0"/>
              </a:spcBef>
              <a:spcAft>
                <a:spcPts val="0"/>
              </a:spcAft>
              <a:buSzPct val="100000"/>
              <a:buFont typeface="Arial"/>
              <a:buAutoNum type="arabicPeriod"/>
            </a:pPr>
            <a:r>
              <a:rPr b="1" lang="en-US">
                <a:latin typeface="Arial"/>
                <a:ea typeface="Arial"/>
                <a:cs typeface="Arial"/>
                <a:sym typeface="Arial"/>
              </a:rPr>
              <a:t>RAM</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Minimum: 4 GB</a:t>
            </a:r>
            <a:endParaRPr sz="2400">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Recommended: 8 GB or higher (for handling larger datasets or more complex workflows)</a:t>
            </a:r>
            <a:endParaRPr sz="2400">
              <a:latin typeface="Arial"/>
              <a:ea typeface="Arial"/>
              <a:cs typeface="Arial"/>
              <a:sym typeface="Arial"/>
            </a:endParaRPr>
          </a:p>
          <a:p>
            <a:pPr indent="-323850" lvl="0" marL="457200" rtl="0" algn="l">
              <a:lnSpc>
                <a:spcPct val="115000"/>
              </a:lnSpc>
              <a:spcBef>
                <a:spcPts val="0"/>
              </a:spcBef>
              <a:spcAft>
                <a:spcPts val="0"/>
              </a:spcAft>
              <a:buSzPct val="100000"/>
              <a:buFont typeface="Arial"/>
              <a:buAutoNum type="arabicPeriod"/>
            </a:pPr>
            <a:r>
              <a:rPr b="1" lang="en-US">
                <a:latin typeface="Arial"/>
                <a:ea typeface="Arial"/>
                <a:cs typeface="Arial"/>
                <a:sym typeface="Arial"/>
              </a:rPr>
              <a:t>Hard Disk</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Minimum: 10 GB of free space</a:t>
            </a:r>
            <a:endParaRPr sz="2400">
              <a:latin typeface="Arial"/>
              <a:ea typeface="Arial"/>
              <a:cs typeface="Arial"/>
              <a:sym typeface="Arial"/>
            </a:endParaRPr>
          </a:p>
          <a:p>
            <a:pPr indent="0" lvl="0" marL="0" rtl="0" algn="l">
              <a:lnSpc>
                <a:spcPct val="115000"/>
              </a:lnSpc>
              <a:spcBef>
                <a:spcPts val="1200"/>
              </a:spcBef>
              <a:spcAft>
                <a:spcPts val="0"/>
              </a:spcAft>
              <a:buNone/>
            </a:pPr>
            <a:r>
              <a:rPr b="1" lang="en-US">
                <a:latin typeface="Arial"/>
                <a:ea typeface="Arial"/>
                <a:cs typeface="Arial"/>
                <a:sym typeface="Arial"/>
              </a:rPr>
              <a:t>Software Requirements:</a:t>
            </a:r>
            <a:endParaRPr b="1">
              <a:latin typeface="Arial"/>
              <a:ea typeface="Arial"/>
              <a:cs typeface="Arial"/>
              <a:sym typeface="Arial"/>
            </a:endParaRPr>
          </a:p>
          <a:p>
            <a:pPr indent="-323850" lvl="0" marL="457200" rtl="0" algn="l">
              <a:lnSpc>
                <a:spcPct val="115000"/>
              </a:lnSpc>
              <a:spcBef>
                <a:spcPts val="1200"/>
              </a:spcBef>
              <a:spcAft>
                <a:spcPts val="0"/>
              </a:spcAft>
              <a:buSzPct val="100000"/>
              <a:buFont typeface="Arial"/>
              <a:buAutoNum type="arabicPeriod"/>
            </a:pPr>
            <a:r>
              <a:rPr b="1" lang="en-US">
                <a:latin typeface="Arial"/>
                <a:ea typeface="Arial"/>
                <a:cs typeface="Arial"/>
                <a:sym typeface="Arial"/>
              </a:rPr>
              <a:t>Operating System</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Windows 10 or higher (64-bit recommended)</a:t>
            </a:r>
            <a:endParaRPr sz="2400">
              <a:latin typeface="Arial"/>
              <a:ea typeface="Arial"/>
              <a:cs typeface="Arial"/>
              <a:sym typeface="Arial"/>
            </a:endParaRPr>
          </a:p>
          <a:p>
            <a:pPr indent="-323850" lvl="0" marL="457200" rtl="0" algn="l">
              <a:lnSpc>
                <a:spcPct val="115000"/>
              </a:lnSpc>
              <a:spcBef>
                <a:spcPts val="0"/>
              </a:spcBef>
              <a:spcAft>
                <a:spcPts val="0"/>
              </a:spcAft>
              <a:buSzPct val="100000"/>
              <a:buFont typeface="Arial"/>
              <a:buAutoNum type="arabicPeriod"/>
            </a:pPr>
            <a:r>
              <a:rPr b="1" lang="en-US">
                <a:latin typeface="Arial"/>
                <a:ea typeface="Arial"/>
                <a:cs typeface="Arial"/>
                <a:sym typeface="Arial"/>
              </a:rPr>
              <a:t>UiPath Studio</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UiPath Studio (latest stable version) for designing and developing workflows.</a:t>
            </a:r>
            <a:endParaRPr sz="2400">
              <a:latin typeface="Arial"/>
              <a:ea typeface="Arial"/>
              <a:cs typeface="Arial"/>
              <a:sym typeface="Arial"/>
            </a:endParaRPr>
          </a:p>
          <a:p>
            <a:pPr indent="-323850" lvl="0" marL="457200" rtl="0" algn="l">
              <a:lnSpc>
                <a:spcPct val="115000"/>
              </a:lnSpc>
              <a:spcBef>
                <a:spcPts val="0"/>
              </a:spcBef>
              <a:spcAft>
                <a:spcPts val="0"/>
              </a:spcAft>
              <a:buSzPct val="100000"/>
              <a:buFont typeface="Arial"/>
              <a:buAutoNum type="arabicPeriod"/>
            </a:pPr>
            <a:r>
              <a:rPr b="1" lang="en-US">
                <a:latin typeface="Arial"/>
                <a:ea typeface="Arial"/>
                <a:cs typeface="Arial"/>
                <a:sym typeface="Arial"/>
              </a:rPr>
              <a:t>Web Browser</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Google Chrome, Firefox, or Microsoft Edge (for web scraping or data extraction)</a:t>
            </a:r>
            <a:endParaRPr sz="2400">
              <a:latin typeface="Arial"/>
              <a:ea typeface="Arial"/>
              <a:cs typeface="Arial"/>
              <a:sym typeface="Arial"/>
            </a:endParaRPr>
          </a:p>
          <a:p>
            <a:pPr indent="-323850" lvl="0" marL="457200" rtl="0" algn="l">
              <a:lnSpc>
                <a:spcPct val="115000"/>
              </a:lnSpc>
              <a:spcBef>
                <a:spcPts val="0"/>
              </a:spcBef>
              <a:spcAft>
                <a:spcPts val="0"/>
              </a:spcAft>
              <a:buSzPct val="100000"/>
              <a:buFont typeface="Arial"/>
              <a:buAutoNum type="arabicPeriod"/>
            </a:pPr>
            <a:r>
              <a:rPr b="1" lang="en-US">
                <a:latin typeface="Arial"/>
                <a:ea typeface="Arial"/>
                <a:cs typeface="Arial"/>
                <a:sym typeface="Arial"/>
              </a:rPr>
              <a:t>Email/SMS Integration</a:t>
            </a:r>
            <a:r>
              <a:rPr lang="en-US">
                <a:latin typeface="Arial"/>
                <a:ea typeface="Arial"/>
                <a:cs typeface="Arial"/>
                <a:sym typeface="Arial"/>
              </a:rPr>
              <a:t>:</a:t>
            </a:r>
            <a:endParaRPr>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SMTP server (for email notifications)</a:t>
            </a:r>
            <a:endParaRPr sz="2400">
              <a:latin typeface="Arial"/>
              <a:ea typeface="Arial"/>
              <a:cs typeface="Arial"/>
              <a:sym typeface="Arial"/>
            </a:endParaRPr>
          </a:p>
          <a:p>
            <a:pPr indent="-323850" lvl="1" marL="914400" rtl="0" algn="l">
              <a:lnSpc>
                <a:spcPct val="115000"/>
              </a:lnSpc>
              <a:spcBef>
                <a:spcPts val="0"/>
              </a:spcBef>
              <a:spcAft>
                <a:spcPts val="0"/>
              </a:spcAft>
              <a:buSzPct val="100000"/>
              <a:buChar char="○"/>
            </a:pPr>
            <a:r>
              <a:rPr lang="en-US" sz="2400">
                <a:latin typeface="Arial"/>
                <a:ea typeface="Arial"/>
                <a:cs typeface="Arial"/>
                <a:sym typeface="Arial"/>
              </a:rPr>
              <a:t>Twilio or similar service (for SMS notifications)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49" name="Google Shape;149;p2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a:latin typeface="Arial"/>
                <a:ea typeface="Arial"/>
                <a:cs typeface="Arial"/>
                <a:sym typeface="Arial"/>
              </a:rPr>
              <a:t>Module 1: Data Extraction and Storage</a:t>
            </a:r>
            <a:endParaRPr b="1">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This module focuses on extracting data from external sources like websites and storing the extracted information into a structured format (e.g., Data Table). The module uses UiPath's data scraping and HTTP request activities to automate data collection.</a:t>
            </a:r>
            <a:endParaRPr>
              <a:latin typeface="Arial"/>
              <a:ea typeface="Arial"/>
              <a:cs typeface="Arial"/>
              <a:sym typeface="Arial"/>
            </a:endParaRPr>
          </a:p>
          <a:p>
            <a:pPr indent="0" lvl="0" marL="0" rtl="0" algn="l">
              <a:lnSpc>
                <a:spcPct val="114000"/>
              </a:lnSpc>
              <a:spcBef>
                <a:spcPts val="1200"/>
              </a:spcBef>
              <a:spcAft>
                <a:spcPts val="0"/>
              </a:spcAft>
              <a:buClr>
                <a:schemeClr val="dk1"/>
              </a:buClr>
              <a:buSzPts val="2400"/>
              <a:buFont typeface="Noto Sans Symbols"/>
              <a:buNone/>
            </a:pPr>
            <a:r>
              <a:t/>
            </a:r>
            <a:endParaRPr/>
          </a:p>
        </p:txBody>
      </p:sp>
      <p:pic>
        <p:nvPicPr>
          <p:cNvPr id="150" name="Google Shape;150;p20"/>
          <p:cNvPicPr preferRelativeResize="0"/>
          <p:nvPr/>
        </p:nvPicPr>
        <p:blipFill rotWithShape="1">
          <a:blip r:embed="rId3">
            <a:alphaModFix/>
          </a:blip>
          <a:srcRect b="43768" l="53388" r="0" t="19061"/>
          <a:stretch/>
        </p:blipFill>
        <p:spPr>
          <a:xfrm>
            <a:off x="-1" y="3696875"/>
            <a:ext cx="8595499" cy="2568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Functional description</a:t>
            </a:r>
            <a:endParaRPr/>
          </a:p>
        </p:txBody>
      </p:sp>
      <p:sp>
        <p:nvSpPr>
          <p:cNvPr id="157" name="Google Shape;157;p21"/>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2300">
                <a:latin typeface="Arial"/>
                <a:ea typeface="Arial"/>
                <a:cs typeface="Arial"/>
                <a:sym typeface="Arial"/>
              </a:rPr>
              <a:t>Module 2: Conflict Detection and Notification</a:t>
            </a:r>
            <a:endParaRPr b="1" sz="2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This module is responsible for processing the extracted data, identifying any scheduling conflicts or inconsistencies (e.g., overlapping events or data anomalies), and notifying the user via email or SMS. It uses UiPath workflows to compare data and automatically send notifications based on preset rules.</a:t>
            </a:r>
            <a:endParaRPr>
              <a:latin typeface="Arial"/>
              <a:ea typeface="Arial"/>
              <a:cs typeface="Arial"/>
              <a:sym typeface="Arial"/>
            </a:endParaRPr>
          </a:p>
          <a:p>
            <a:pPr indent="0" lvl="0" marL="0" rtl="0" algn="l">
              <a:lnSpc>
                <a:spcPct val="115000"/>
              </a:lnSpc>
              <a:spcBef>
                <a:spcPts val="1200"/>
              </a:spcBef>
              <a:spcAft>
                <a:spcPts val="200"/>
              </a:spcAft>
              <a:buNone/>
            </a:pPr>
            <a:r>
              <a:t/>
            </a:r>
            <a:endParaRPr/>
          </a:p>
        </p:txBody>
      </p:sp>
      <p:pic>
        <p:nvPicPr>
          <p:cNvPr id="158" name="Google Shape;158;p21"/>
          <p:cNvPicPr preferRelativeResize="0"/>
          <p:nvPr/>
        </p:nvPicPr>
        <p:blipFill rotWithShape="1">
          <a:blip r:embed="rId3">
            <a:alphaModFix/>
          </a:blip>
          <a:srcRect b="45372" l="38442" r="0" t="6594"/>
          <a:stretch/>
        </p:blipFill>
        <p:spPr>
          <a:xfrm>
            <a:off x="1327550" y="3771300"/>
            <a:ext cx="5628677" cy="247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Entity Relationship Diagram</a:t>
            </a:r>
            <a:endParaRPr>
              <a:latin typeface="Calibri"/>
              <a:ea typeface="Calibri"/>
              <a:cs typeface="Calibri"/>
              <a:sym typeface="Calibri"/>
            </a:endParaRPr>
          </a:p>
        </p:txBody>
      </p:sp>
      <p:sp>
        <p:nvSpPr>
          <p:cNvPr id="165" name="Google Shape;165;p2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t/>
            </a:r>
            <a:endParaRPr/>
          </a:p>
        </p:txBody>
      </p:sp>
      <p:pic>
        <p:nvPicPr>
          <p:cNvPr id="166" name="Google Shape;166;p22"/>
          <p:cNvPicPr preferRelativeResize="0"/>
          <p:nvPr/>
        </p:nvPicPr>
        <p:blipFill>
          <a:blip r:embed="rId3">
            <a:alphaModFix/>
          </a:blip>
          <a:stretch>
            <a:fillRect/>
          </a:stretch>
        </p:blipFill>
        <p:spPr>
          <a:xfrm>
            <a:off x="2337800" y="1149850"/>
            <a:ext cx="4198750" cy="5015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73" name="Google Shape;173;p23"/>
          <p:cNvSpPr txBox="1"/>
          <p:nvPr>
            <p:ph idx="1" type="body"/>
          </p:nvPr>
        </p:nvSpPr>
        <p:spPr>
          <a:xfrm>
            <a:off x="190500" y="914400"/>
            <a:ext cx="8763000" cy="533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Main Process: Event Notification Management</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The main process ensures end-to-end automation of event management, including data extraction, conflict detection, and notifications.</a:t>
            </a:r>
            <a:endParaRPr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Sub-Processes</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1. Data Extraction and Storage</a:t>
            </a:r>
            <a:endParaRPr b="1" sz="1800">
              <a:latin typeface="Arial"/>
              <a:ea typeface="Arial"/>
              <a:cs typeface="Arial"/>
              <a:sym typeface="Arial"/>
            </a:endParaRPr>
          </a:p>
          <a:p>
            <a:pPr indent="0" lvl="0" marL="0" rtl="0" algn="l">
              <a:lnSpc>
                <a:spcPct val="115000"/>
              </a:lnSpc>
              <a:spcBef>
                <a:spcPts val="1200"/>
              </a:spcBef>
              <a:spcAft>
                <a:spcPts val="0"/>
              </a:spcAft>
              <a:buNone/>
            </a:pPr>
            <a:r>
              <a:rPr b="1" lang="en-US" sz="1800">
                <a:latin typeface="Arial"/>
                <a:ea typeface="Arial"/>
                <a:cs typeface="Arial"/>
                <a:sym typeface="Arial"/>
              </a:rPr>
              <a:t>Objective</a:t>
            </a:r>
            <a:r>
              <a:rPr lang="en-US" sz="1800">
                <a:latin typeface="Arial"/>
                <a:ea typeface="Arial"/>
                <a:cs typeface="Arial"/>
                <a:sym typeface="Arial"/>
              </a:rPr>
              <a:t>: Collect data from external sources and store it in a structured format.</a:t>
            </a:r>
            <a:endParaRPr sz="1800">
              <a:latin typeface="Arial"/>
              <a:ea typeface="Arial"/>
              <a:cs typeface="Arial"/>
              <a:sym typeface="Arial"/>
            </a:endParaRPr>
          </a:p>
          <a:p>
            <a:pPr indent="-342900" lvl="1" marL="914400" rtl="0" algn="l">
              <a:lnSpc>
                <a:spcPct val="115000"/>
              </a:lnSpc>
              <a:spcBef>
                <a:spcPts val="1200"/>
              </a:spcBef>
              <a:spcAft>
                <a:spcPts val="0"/>
              </a:spcAft>
              <a:buSzPts val="1800"/>
              <a:buAutoNum type="arabicPeriod"/>
            </a:pPr>
            <a:r>
              <a:rPr lang="en-US" sz="1800">
                <a:latin typeface="Arial"/>
                <a:ea typeface="Arial"/>
                <a:cs typeface="Arial"/>
                <a:sym typeface="Arial"/>
              </a:rPr>
              <a:t>Connect to data sources (websitess).</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Extract relevant data (e.g., event details).</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Validate and clean the extracted data.</a:t>
            </a:r>
            <a:endParaRPr sz="1800">
              <a:latin typeface="Arial"/>
              <a:ea typeface="Arial"/>
              <a:cs typeface="Arial"/>
              <a:sym typeface="Arial"/>
            </a:endParaRPr>
          </a:p>
          <a:p>
            <a:pPr indent="-342900" lvl="1" marL="914400" rtl="0" algn="l">
              <a:lnSpc>
                <a:spcPct val="115000"/>
              </a:lnSpc>
              <a:spcBef>
                <a:spcPts val="0"/>
              </a:spcBef>
              <a:spcAft>
                <a:spcPts val="0"/>
              </a:spcAft>
              <a:buSzPts val="1800"/>
              <a:buAutoNum type="arabicPeriod"/>
            </a:pPr>
            <a:r>
              <a:rPr lang="en-US" sz="1800">
                <a:latin typeface="Arial"/>
                <a:ea typeface="Arial"/>
                <a:cs typeface="Arial"/>
                <a:sym typeface="Arial"/>
              </a:rPr>
              <a:t>Store the data in a Data Table or database for further processing.</a:t>
            </a:r>
            <a:endParaRPr sz="1800">
              <a:latin typeface="Arial"/>
              <a:ea typeface="Arial"/>
              <a:cs typeface="Arial"/>
              <a:sym typeface="Arial"/>
            </a:endParaRPr>
          </a:p>
          <a:p>
            <a:pPr indent="0" lvl="0" marL="0" rtl="0" algn="l">
              <a:lnSpc>
                <a:spcPct val="115000"/>
              </a:lnSpc>
              <a:spcBef>
                <a:spcPts val="1200"/>
              </a:spcBef>
              <a:spcAft>
                <a:spcPts val="0"/>
              </a:spcAft>
              <a:buNone/>
            </a:pPr>
            <a:r>
              <a:rPr b="1" lang="en-US" sz="1800">
                <a:latin typeface="Arial"/>
                <a:ea typeface="Arial"/>
                <a:cs typeface="Arial"/>
                <a:sym typeface="Arial"/>
              </a:rPr>
              <a:t>2. Data Processing and Analysis</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latin typeface="Arial"/>
                <a:ea typeface="Arial"/>
                <a:cs typeface="Arial"/>
                <a:sym typeface="Arial"/>
              </a:rPr>
              <a:t>Objective</a:t>
            </a:r>
            <a:r>
              <a:rPr lang="en-US" sz="1800">
                <a:latin typeface="Arial"/>
                <a:ea typeface="Arial"/>
                <a:cs typeface="Arial"/>
                <a:sym typeface="Arial"/>
              </a:rPr>
              <a:t>: Process the extracted data to detect conflicts or anomalies.</a:t>
            </a:r>
            <a:endParaRPr sz="1800">
              <a:latin typeface="Arial"/>
              <a:ea typeface="Arial"/>
              <a:cs typeface="Arial"/>
              <a:sym typeface="Arial"/>
            </a:endParaRPr>
          </a:p>
          <a:p>
            <a:pPr indent="0" lvl="0" marL="0" rtl="0" algn="l">
              <a:lnSpc>
                <a:spcPct val="115000"/>
              </a:lnSpc>
              <a:spcBef>
                <a:spcPts val="1200"/>
              </a:spcBef>
              <a:spcAft>
                <a:spcPts val="0"/>
              </a:spcAft>
              <a:buNone/>
            </a:pPr>
            <a:r>
              <a:rPr lang="en-US" sz="1800">
                <a:latin typeface="Arial"/>
                <a:ea typeface="Arial"/>
                <a:cs typeface="Arial"/>
                <a:sym typeface="Arial"/>
              </a:rPr>
              <a:t>..</a:t>
            </a:r>
            <a:endParaRPr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800">
              <a:latin typeface="Arial"/>
              <a:ea typeface="Arial"/>
              <a:cs typeface="Arial"/>
              <a:sym typeface="Arial"/>
            </a:endParaRPr>
          </a:p>
          <a:p>
            <a:pPr indent="0" lvl="0" marL="342900" rtl="0" algn="l">
              <a:lnSpc>
                <a:spcPct val="114000"/>
              </a:lnSpc>
              <a:spcBef>
                <a:spcPts val="48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Process Design</a:t>
            </a:r>
            <a:endParaRPr/>
          </a:p>
        </p:txBody>
      </p:sp>
      <p:sp>
        <p:nvSpPr>
          <p:cNvPr id="180" name="Google Shape;180;p24"/>
          <p:cNvSpPr txBox="1"/>
          <p:nvPr>
            <p:ph idx="1" type="body"/>
          </p:nvPr>
        </p:nvSpPr>
        <p:spPr>
          <a:xfrm>
            <a:off x="190500" y="990600"/>
            <a:ext cx="8763000" cy="5334000"/>
          </a:xfrm>
          <a:prstGeom prst="rect">
            <a:avLst/>
          </a:prstGeom>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SzPts val="2000"/>
              <a:buFont typeface="Arial"/>
              <a:buChar char="●"/>
            </a:pPr>
            <a:r>
              <a:rPr b="1" lang="en-US" sz="2000">
                <a:latin typeface="Arial"/>
                <a:ea typeface="Arial"/>
                <a:cs typeface="Arial"/>
                <a:sym typeface="Arial"/>
              </a:rPr>
              <a:t>Steps</a:t>
            </a:r>
            <a:r>
              <a:rPr lang="en-US" sz="2000">
                <a:latin typeface="Arial"/>
                <a:ea typeface="Arial"/>
                <a:cs typeface="Arial"/>
                <a:sym typeface="Arial"/>
              </a:rPr>
              <a:t>:</a:t>
            </a:r>
            <a:endParaRPr sz="2000">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Retrieve data from the Data Table </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Compare events for overlapping times or resource conflicts.</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Identify anomalies, such as missing or duplicate entries.</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Update event statuses (e.g., “Conflict,” “Scheduled”) in the database.</a:t>
            </a:r>
            <a:endParaRPr>
              <a:latin typeface="Arial"/>
              <a:ea typeface="Arial"/>
              <a:cs typeface="Arial"/>
              <a:sym typeface="Arial"/>
            </a:endParaRPr>
          </a:p>
          <a:p>
            <a:pPr indent="0" lvl="0" marL="0" rtl="0" algn="l">
              <a:lnSpc>
                <a:spcPct val="115000"/>
              </a:lnSpc>
              <a:spcBef>
                <a:spcPts val="1200"/>
              </a:spcBef>
              <a:spcAft>
                <a:spcPts val="0"/>
              </a:spcAft>
              <a:buNone/>
            </a:pPr>
            <a:r>
              <a:rPr b="1" lang="en-US" sz="2000">
                <a:latin typeface="Arial"/>
                <a:ea typeface="Arial"/>
                <a:cs typeface="Arial"/>
                <a:sym typeface="Arial"/>
              </a:rPr>
              <a:t>3. Notification Generation and Delivery</a:t>
            </a:r>
            <a:endParaRPr b="1"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000">
                <a:latin typeface="Arial"/>
                <a:ea typeface="Arial"/>
                <a:cs typeface="Arial"/>
                <a:sym typeface="Arial"/>
              </a:rPr>
              <a:t>Objective</a:t>
            </a:r>
            <a:r>
              <a:rPr lang="en-US" sz="2000">
                <a:latin typeface="Arial"/>
                <a:ea typeface="Arial"/>
                <a:cs typeface="Arial"/>
                <a:sym typeface="Arial"/>
              </a:rPr>
              <a:t>: Notify users about upcoming events or detected conflicts.</a:t>
            </a:r>
            <a:endParaRPr sz="2000">
              <a:latin typeface="Arial"/>
              <a:ea typeface="Arial"/>
              <a:cs typeface="Arial"/>
              <a:sym typeface="Arial"/>
            </a:endParaRPr>
          </a:p>
          <a:p>
            <a:pPr indent="-355600" lvl="0" marL="457200" rtl="0" algn="l">
              <a:lnSpc>
                <a:spcPct val="115000"/>
              </a:lnSpc>
              <a:spcBef>
                <a:spcPts val="1200"/>
              </a:spcBef>
              <a:spcAft>
                <a:spcPts val="0"/>
              </a:spcAft>
              <a:buSzPts val="2000"/>
              <a:buFont typeface="Arial"/>
              <a:buChar char="●"/>
            </a:pPr>
            <a:r>
              <a:rPr b="1" lang="en-US" sz="2000">
                <a:latin typeface="Arial"/>
                <a:ea typeface="Arial"/>
                <a:cs typeface="Arial"/>
                <a:sym typeface="Arial"/>
              </a:rPr>
              <a:t>Steps</a:t>
            </a:r>
            <a:r>
              <a:rPr lang="en-US" sz="2000">
                <a:latin typeface="Arial"/>
                <a:ea typeface="Arial"/>
                <a:cs typeface="Arial"/>
                <a:sym typeface="Arial"/>
              </a:rPr>
              <a:t>:</a:t>
            </a:r>
            <a:endParaRPr sz="2000">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Generate notifications based on the processed data.</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Format messages (email or SMS) with event details.</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Use email (SMTP) or SMS (e.g., Twilio) integration to send notifications.</a:t>
            </a:r>
            <a:endParaRPr>
              <a:latin typeface="Arial"/>
              <a:ea typeface="Arial"/>
              <a:cs typeface="Arial"/>
              <a:sym typeface="Arial"/>
            </a:endParaRPr>
          </a:p>
          <a:p>
            <a:pPr indent="-355600" lvl="1" marL="914400" rtl="0" algn="l">
              <a:lnSpc>
                <a:spcPct val="115000"/>
              </a:lnSpc>
              <a:spcBef>
                <a:spcPts val="0"/>
              </a:spcBef>
              <a:spcAft>
                <a:spcPts val="0"/>
              </a:spcAft>
              <a:buSzPts val="2000"/>
              <a:buAutoNum type="arabicPeriod"/>
            </a:pPr>
            <a:r>
              <a:rPr lang="en-US">
                <a:latin typeface="Arial"/>
                <a:ea typeface="Arial"/>
                <a:cs typeface="Arial"/>
                <a:sym typeface="Arial"/>
              </a:rPr>
              <a:t>Log the notification status (Sent, Pending, Failed).</a:t>
            </a:r>
            <a:endParaRPr>
              <a:latin typeface="Arial"/>
              <a:ea typeface="Arial"/>
              <a:cs typeface="Arial"/>
              <a:sym typeface="Arial"/>
            </a:endParaRPr>
          </a:p>
          <a:p>
            <a:pPr indent="0" lvl="0" marL="342900" rtl="0" algn="l">
              <a:spcBef>
                <a:spcPts val="1200"/>
              </a:spcBef>
              <a:spcAft>
                <a:spcPts val="0"/>
              </a:spcAft>
              <a:buClr>
                <a:schemeClr val="dk1"/>
              </a:buClr>
              <a:buSzPts val="1100"/>
              <a:buFont typeface="Arial"/>
              <a:buNone/>
            </a:pPr>
            <a:r>
              <a:t/>
            </a:r>
            <a:endParaRPr sz="2000"/>
          </a:p>
          <a:p>
            <a:pPr indent="0" lvl="0" marL="0" rtl="0" algn="l">
              <a:spcBef>
                <a:spcPts val="48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87" name="Google Shape;187;p2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Implementation of Module 1: Data Extraction and Storage</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module begins by automating the process of extracting data from external sources such as websites or APIs. UiPath’s Data Scraping Wizard is used for extracting tabular data from websites, while the HTTP Request activity handles API integrations to fetch data like JSON responses. Once extracted, the data is validated for missing or inconsistent values to ensure accuracy. Finally, the cleaned data is stored in a structured format, such as a UiPath Data Table, which acts as a temporary repository for further processing.</a:t>
            </a:r>
            <a:endParaRPr sz="1100">
              <a:latin typeface="Arial"/>
              <a:ea typeface="Arial"/>
              <a:cs typeface="Arial"/>
              <a:sym typeface="Arial"/>
            </a:endParaRPr>
          </a:p>
          <a:p>
            <a:pPr indent="0" lvl="0" marL="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pic>
        <p:nvPicPr>
          <p:cNvPr id="188" name="Google Shape;188;p25"/>
          <p:cNvPicPr preferRelativeResize="0"/>
          <p:nvPr/>
        </p:nvPicPr>
        <p:blipFill rotWithShape="1">
          <a:blip r:embed="rId3">
            <a:alphaModFix/>
          </a:blip>
          <a:srcRect b="7580" l="0" r="4351" t="15460"/>
          <a:stretch/>
        </p:blipFill>
        <p:spPr>
          <a:xfrm>
            <a:off x="302775" y="2486550"/>
            <a:ext cx="8154949" cy="3193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Implementation</a:t>
            </a:r>
            <a:endParaRPr/>
          </a:p>
        </p:txBody>
      </p:sp>
      <p:sp>
        <p:nvSpPr>
          <p:cNvPr id="195" name="Google Shape;195;p26"/>
          <p:cNvSpPr txBox="1"/>
          <p:nvPr>
            <p:ph idx="1" type="body"/>
          </p:nvPr>
        </p:nvSpPr>
        <p:spPr>
          <a:xfrm>
            <a:off x="190500" y="990600"/>
            <a:ext cx="8763000" cy="53340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Implementation of Module 2: Conflict Detection and Notification</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second module processes the data stored in the Data Table to identify scheduling conflicts or anomalies. UiPath compares event attributes (e.g., time overlaps) using custom workflows and updates event statuses accordingly. For notifications, the module generates customized messages based on the processed data and sends them via integrated email (SMTP) or SMS (e.g., Twilio) services. The status of each notification (Sent, Pending, Failed) is logged for tracking, ensuring timely delivery and user awareness.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480"/>
              </a:spcBef>
              <a:spcAft>
                <a:spcPts val="0"/>
              </a:spcAft>
              <a:buNone/>
            </a:pPr>
            <a:r>
              <a:t/>
            </a:r>
            <a:endParaRPr/>
          </a:p>
        </p:txBody>
      </p:sp>
      <p:pic>
        <p:nvPicPr>
          <p:cNvPr id="196" name="Google Shape;196;p26"/>
          <p:cNvPicPr preferRelativeResize="0"/>
          <p:nvPr/>
        </p:nvPicPr>
        <p:blipFill rotWithShape="1">
          <a:blip r:embed="rId3">
            <a:alphaModFix/>
          </a:blip>
          <a:srcRect b="13111" l="0" r="0" t="13104"/>
          <a:stretch/>
        </p:blipFill>
        <p:spPr>
          <a:xfrm>
            <a:off x="302775" y="2486550"/>
            <a:ext cx="8154948" cy="31937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203" name="Google Shape;203;p2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l">
              <a:lnSpc>
                <a:spcPct val="114000"/>
              </a:lnSpc>
              <a:spcBef>
                <a:spcPts val="0"/>
              </a:spcBef>
              <a:spcAft>
                <a:spcPts val="0"/>
              </a:spcAft>
              <a:buNone/>
            </a:pPr>
            <a:r>
              <a:rPr lang="en-US"/>
              <a:t>The event notifier project leverages UiPath's powerful automation capabilities to simplify and enhance event management processes. By automating data extraction, conflict detection, and notifications, the system reduces manual effort, minimizes errors, and ensures timely updates for users. The modular design allows for flexibility, scalability, and adaptability to various use cases, whether managing personal schedules or organizational workflows. This solution not only saves time but also improves productivity, providing a reliable tool for effective decision-making in today’s fast-paced world.</a:t>
            </a:r>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210" name="Google Shape;210;p2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l">
              <a:lnSpc>
                <a:spcPct val="115000"/>
              </a:lnSpc>
              <a:spcBef>
                <a:spcPts val="1200"/>
              </a:spcBef>
              <a:spcAft>
                <a:spcPts val="0"/>
              </a:spcAft>
              <a:buClr>
                <a:schemeClr val="dk1"/>
              </a:buClr>
              <a:buSzPct val="45833"/>
              <a:buFont typeface="Arial"/>
              <a:buNone/>
            </a:pPr>
            <a:r>
              <a:rPr lang="en-US"/>
              <a:t>The event notifier can be enhanced by incorporating advanced machine learning algorithms to predict potential scheduling conflicts based on user patterns and historical data. For instance, predictive analytics can identify high-priority tasks or suggest optimal scheduling times based on workload and user preferences. Additionally, integrating voice assistants like Amazon Alexa or Google Assistant would allow users to manage their schedules and receive notifications via voice commands, making the system more accessible and user-friendly.</a:t>
            </a:r>
            <a:endParaRPr/>
          </a:p>
          <a:p>
            <a:pPr indent="0" lvl="0" marL="0" rtl="0" algn="l">
              <a:lnSpc>
                <a:spcPct val="115000"/>
              </a:lnSpc>
              <a:spcBef>
                <a:spcPts val="1200"/>
              </a:spcBef>
              <a:spcAft>
                <a:spcPts val="0"/>
              </a:spcAft>
              <a:buClr>
                <a:schemeClr val="dk1"/>
              </a:buClr>
              <a:buSzPct val="45833"/>
              <a:buFont typeface="Arial"/>
              <a:buNone/>
            </a:pPr>
            <a:r>
              <a:rPr lang="en-US"/>
              <a:t>Another area of enhancement is multi-platform support and integration with popular calendar applications such as Google Calendar, Microsoft Outlook, or Apple Calendar. This would enable real-time synchronization of events across different platforms. Furthermore, adding multilingual support for notifications and a mobile app interface would expand the usability of the system, catering to a broader audience and ensuring notifications are accessible anytime, anywhere. These enhancements would make the notifier more intelligent, versatile, and globally applicable.</a:t>
            </a:r>
            <a:endParaRPr/>
          </a:p>
          <a:p>
            <a:pPr indent="0" lvl="0" marL="0" rtl="0" algn="l">
              <a:lnSpc>
                <a:spcPct val="114000"/>
              </a:lnSpc>
              <a:spcBef>
                <a:spcPts val="1200"/>
              </a:spcBef>
              <a:spcAft>
                <a:spcPts val="0"/>
              </a:spcAft>
              <a:buNone/>
            </a:pPr>
            <a:r>
              <a:t/>
            </a:r>
            <a:endParaRPr/>
          </a:p>
          <a:p>
            <a:pPr indent="-190500" lvl="0" marL="342900" rtl="0" algn="l">
              <a:lnSpc>
                <a:spcPct val="114000"/>
              </a:lnSpc>
              <a:spcBef>
                <a:spcPts val="480"/>
              </a:spcBef>
              <a:spcAft>
                <a:spcPts val="0"/>
              </a:spcAft>
              <a:buClr>
                <a:schemeClr val="dk1"/>
              </a:buClr>
              <a:buSzPct val="100000"/>
              <a:buFont typeface="Noto Sans Symbols"/>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17" name="Google Shape;217;p2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700">
                <a:latin typeface="Arial"/>
                <a:ea typeface="Arial"/>
                <a:cs typeface="Arial"/>
                <a:sym typeface="Arial"/>
              </a:rPr>
              <a:t>IEEE Papers Related to Event Notifiers</a:t>
            </a:r>
            <a:endParaRPr b="1" sz="1700">
              <a:latin typeface="Arial"/>
              <a:ea typeface="Arial"/>
              <a:cs typeface="Arial"/>
              <a:sym typeface="Arial"/>
            </a:endParaRPr>
          </a:p>
          <a:p>
            <a:pPr indent="-336550" lvl="0" marL="457200" rtl="0" algn="l">
              <a:lnSpc>
                <a:spcPct val="115000"/>
              </a:lnSpc>
              <a:spcBef>
                <a:spcPts val="1200"/>
              </a:spcBef>
              <a:spcAft>
                <a:spcPts val="0"/>
              </a:spcAft>
              <a:buSzPts val="1700"/>
              <a:buFont typeface="Arial"/>
              <a:buAutoNum type="arabicPeriod"/>
            </a:pPr>
            <a:r>
              <a:rPr b="1" lang="en-US" sz="1700">
                <a:latin typeface="Arial"/>
                <a:ea typeface="Arial"/>
                <a:cs typeface="Arial"/>
                <a:sym typeface="Arial"/>
              </a:rPr>
              <a:t>Title</a:t>
            </a:r>
            <a:r>
              <a:rPr lang="en-US" sz="1700">
                <a:latin typeface="Arial"/>
                <a:ea typeface="Arial"/>
                <a:cs typeface="Arial"/>
                <a:sym typeface="Arial"/>
              </a:rPr>
              <a:t>: </a:t>
            </a:r>
            <a:r>
              <a:rPr i="1" lang="en-US" sz="1700">
                <a:latin typeface="Arial"/>
                <a:ea typeface="Arial"/>
                <a:cs typeface="Arial"/>
                <a:sym typeface="Arial"/>
              </a:rPr>
              <a:t>A Web-based College Event Management System and Notification Sender</a:t>
            </a:r>
            <a:endParaRPr i="1"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b="1" lang="en-US" sz="1700">
                <a:latin typeface="Arial"/>
                <a:ea typeface="Arial"/>
                <a:cs typeface="Arial"/>
                <a:sym typeface="Arial"/>
              </a:rPr>
              <a:t>Authors</a:t>
            </a:r>
            <a:r>
              <a:rPr lang="en-US" sz="1700">
                <a:latin typeface="Arial"/>
                <a:ea typeface="Arial"/>
                <a:cs typeface="Arial"/>
                <a:sym typeface="Arial"/>
              </a:rPr>
              <a:t>: Not specified in the preview.</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b="1" lang="en-US" sz="1700">
                <a:latin typeface="Arial"/>
                <a:ea typeface="Arial"/>
                <a:cs typeface="Arial"/>
                <a:sym typeface="Arial"/>
              </a:rPr>
              <a:t>Summary</a:t>
            </a:r>
            <a:r>
              <a:rPr lang="en-US" sz="1700">
                <a:latin typeface="Arial"/>
                <a:ea typeface="Arial"/>
                <a:cs typeface="Arial"/>
                <a:sym typeface="Arial"/>
              </a:rPr>
              <a:t>: This research presents a web-based application to facilitate college event management, focusing on notifications for improved accessibility and management.</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u="sng">
                <a:solidFill>
                  <a:schemeClr val="hlink"/>
                </a:solidFill>
                <a:latin typeface="Arial"/>
                <a:ea typeface="Arial"/>
                <a:cs typeface="Arial"/>
                <a:sym typeface="Arial"/>
                <a:hlinkClick r:id="rId3"/>
              </a:rPr>
              <a:t>Link to Paper</a:t>
            </a:r>
            <a:r>
              <a:rPr lang="en-US" sz="1700">
                <a:latin typeface="Arial"/>
                <a:ea typeface="Arial"/>
                <a:cs typeface="Arial"/>
                <a:sym typeface="Arial"/>
              </a:rPr>
              <a:t>​</a:t>
            </a:r>
            <a:br>
              <a:rPr lang="en-US" sz="1700">
                <a:latin typeface="Arial"/>
                <a:ea typeface="Arial"/>
                <a:cs typeface="Arial"/>
                <a:sym typeface="Arial"/>
              </a:rPr>
            </a:br>
            <a:endParaRPr sz="1700" u="sng">
              <a:solidFill>
                <a:schemeClr val="hlink"/>
              </a:solidFill>
              <a:latin typeface="Arial"/>
              <a:ea typeface="Arial"/>
              <a:cs typeface="Arial"/>
              <a:sym typeface="Arial"/>
            </a:endParaRPr>
          </a:p>
          <a:p>
            <a:pPr indent="-336550" lvl="0" marL="457200" rtl="0" algn="l">
              <a:lnSpc>
                <a:spcPct val="115000"/>
              </a:lnSpc>
              <a:spcBef>
                <a:spcPts val="0"/>
              </a:spcBef>
              <a:spcAft>
                <a:spcPts val="0"/>
              </a:spcAft>
              <a:buSzPts val="1700"/>
              <a:buFont typeface="Arial"/>
              <a:buAutoNum type="arabicPeriod"/>
            </a:pPr>
            <a:r>
              <a:rPr b="1" lang="en-US" sz="1700">
                <a:latin typeface="Arial"/>
                <a:ea typeface="Arial"/>
                <a:cs typeface="Arial"/>
                <a:sym typeface="Arial"/>
              </a:rPr>
              <a:t>Title</a:t>
            </a:r>
            <a:r>
              <a:rPr lang="en-US" sz="1700">
                <a:latin typeface="Arial"/>
                <a:ea typeface="Arial"/>
                <a:cs typeface="Arial"/>
                <a:sym typeface="Arial"/>
              </a:rPr>
              <a:t>: </a:t>
            </a:r>
            <a:r>
              <a:rPr i="1" lang="en-US" sz="1700">
                <a:latin typeface="Arial"/>
                <a:ea typeface="Arial"/>
                <a:cs typeface="Arial"/>
                <a:sym typeface="Arial"/>
              </a:rPr>
              <a:t>Android Application on e-notifier for College Events Management using Firebase</a:t>
            </a:r>
            <a:endParaRPr i="1"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b="1" lang="en-US" sz="1700">
                <a:latin typeface="Arial"/>
                <a:ea typeface="Arial"/>
                <a:cs typeface="Arial"/>
                <a:sym typeface="Arial"/>
              </a:rPr>
              <a:t>Authors</a:t>
            </a:r>
            <a:r>
              <a:rPr lang="en-US" sz="1700">
                <a:latin typeface="Arial"/>
                <a:ea typeface="Arial"/>
                <a:cs typeface="Arial"/>
                <a:sym typeface="Arial"/>
              </a:rPr>
              <a:t>: Not specified in the preview.</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b="1" lang="en-US" sz="1700">
                <a:latin typeface="Arial"/>
                <a:ea typeface="Arial"/>
                <a:cs typeface="Arial"/>
                <a:sym typeface="Arial"/>
              </a:rPr>
              <a:t>Summary</a:t>
            </a:r>
            <a:r>
              <a:rPr lang="en-US" sz="1700">
                <a:latin typeface="Arial"/>
                <a:ea typeface="Arial"/>
                <a:cs typeface="Arial"/>
                <a:sym typeface="Arial"/>
              </a:rPr>
              <a:t>: The paper discusses the development of an Android-based event notification system utilizing Firebase for real-time updates and centralized management of college events.</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u="sng">
                <a:solidFill>
                  <a:schemeClr val="hlink"/>
                </a:solidFill>
                <a:latin typeface="Arial"/>
                <a:ea typeface="Arial"/>
                <a:cs typeface="Arial"/>
                <a:sym typeface="Arial"/>
                <a:hlinkClick r:id="rId4"/>
              </a:rPr>
              <a:t>Link to Paper</a:t>
            </a:r>
            <a:r>
              <a:rPr lang="en-US" sz="1700">
                <a:latin typeface="Arial"/>
                <a:ea typeface="Arial"/>
                <a:cs typeface="Arial"/>
                <a:sym typeface="Arial"/>
              </a:rPr>
              <a:t>​</a:t>
            </a:r>
            <a:br>
              <a:rPr lang="en-US" sz="1700">
                <a:latin typeface="Arial"/>
                <a:ea typeface="Arial"/>
                <a:cs typeface="Arial"/>
                <a:sym typeface="Arial"/>
              </a:rPr>
            </a:br>
            <a:endParaRPr sz="1700" u="sng">
              <a:solidFill>
                <a:schemeClr val="hlink"/>
              </a:solidFill>
              <a:latin typeface="Arial"/>
              <a:ea typeface="Arial"/>
              <a:cs typeface="Arial"/>
              <a:sym typeface="Arial"/>
            </a:endParaRPr>
          </a:p>
          <a:p>
            <a:pPr indent="0" lvl="0" marL="0" rtl="0" algn="l">
              <a:lnSpc>
                <a:spcPct val="114000"/>
              </a:lnSpc>
              <a:spcBef>
                <a:spcPts val="1200"/>
              </a:spcBef>
              <a:spcAft>
                <a:spcPts val="0"/>
              </a:spcAft>
              <a:buNone/>
            </a:pPr>
            <a:r>
              <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24" name="Google Shape;224;p3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81000" lvl="0" marL="457200" rtl="0" algn="l">
              <a:lnSpc>
                <a:spcPct val="115000"/>
              </a:lnSpc>
              <a:spcBef>
                <a:spcPts val="1200"/>
              </a:spcBef>
              <a:spcAft>
                <a:spcPts val="0"/>
              </a:spcAft>
              <a:buSzPts val="2400"/>
              <a:buFont typeface="Arial"/>
              <a:buAutoNum type="arabicPeriod"/>
            </a:pPr>
            <a:r>
              <a:rPr b="1" lang="en-US">
                <a:latin typeface="Arial"/>
                <a:ea typeface="Arial"/>
                <a:cs typeface="Arial"/>
                <a:sym typeface="Arial"/>
              </a:rPr>
              <a:t>Title</a:t>
            </a:r>
            <a:r>
              <a:rPr lang="en-US">
                <a:latin typeface="Arial"/>
                <a:ea typeface="Arial"/>
                <a:cs typeface="Arial"/>
                <a:sym typeface="Arial"/>
              </a:rPr>
              <a:t>: </a:t>
            </a:r>
            <a:r>
              <a:rPr i="1" lang="en-US">
                <a:latin typeface="Arial"/>
                <a:ea typeface="Arial"/>
                <a:cs typeface="Arial"/>
                <a:sym typeface="Arial"/>
              </a:rPr>
              <a:t>Design and Development of an Automated Notification System for Event Management</a:t>
            </a:r>
            <a:endParaRPr i="1">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sz="2400">
                <a:latin typeface="Arial"/>
                <a:ea typeface="Arial"/>
                <a:cs typeface="Arial"/>
                <a:sym typeface="Arial"/>
              </a:rPr>
              <a:t>Authors</a:t>
            </a:r>
            <a:r>
              <a:rPr lang="en-US" sz="2400">
                <a:latin typeface="Arial"/>
                <a:ea typeface="Arial"/>
                <a:cs typeface="Arial"/>
                <a:sym typeface="Arial"/>
              </a:rPr>
              <a:t>: Nitin R. Suryawanshi, Priyanka D. More</a:t>
            </a:r>
            <a:endParaRPr sz="2400">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sz="2400">
                <a:latin typeface="Arial"/>
                <a:ea typeface="Arial"/>
                <a:cs typeface="Arial"/>
                <a:sym typeface="Arial"/>
              </a:rPr>
              <a:t>Journal</a:t>
            </a:r>
            <a:r>
              <a:rPr lang="en-US" sz="2400">
                <a:latin typeface="Arial"/>
                <a:ea typeface="Arial"/>
                <a:cs typeface="Arial"/>
                <a:sym typeface="Arial"/>
              </a:rPr>
              <a:t>: </a:t>
            </a:r>
            <a:r>
              <a:rPr i="1" lang="en-US" sz="2400">
                <a:latin typeface="Arial"/>
                <a:ea typeface="Arial"/>
                <a:cs typeface="Arial"/>
                <a:sym typeface="Arial"/>
              </a:rPr>
              <a:t>International Journal of Engineering Research and Technology (IJERT)</a:t>
            </a:r>
            <a:endParaRPr i="1" sz="2400">
              <a:latin typeface="Arial"/>
              <a:ea typeface="Arial"/>
              <a:cs typeface="Arial"/>
              <a:sym typeface="Arial"/>
            </a:endParaRPr>
          </a:p>
          <a:p>
            <a:pPr indent="-381000" lvl="0" marL="457200" rtl="0" algn="l">
              <a:lnSpc>
                <a:spcPct val="115000"/>
              </a:lnSpc>
              <a:spcBef>
                <a:spcPts val="0"/>
              </a:spcBef>
              <a:spcAft>
                <a:spcPts val="0"/>
              </a:spcAft>
              <a:buSzPts val="2400"/>
              <a:buFont typeface="Arial"/>
              <a:buAutoNum type="arabicPeriod"/>
            </a:pPr>
            <a:r>
              <a:rPr b="1" lang="en-US">
                <a:latin typeface="Arial"/>
                <a:ea typeface="Arial"/>
                <a:cs typeface="Arial"/>
                <a:sym typeface="Arial"/>
              </a:rPr>
              <a:t>Title</a:t>
            </a:r>
            <a:r>
              <a:rPr lang="en-US">
                <a:latin typeface="Arial"/>
                <a:ea typeface="Arial"/>
                <a:cs typeface="Arial"/>
                <a:sym typeface="Arial"/>
              </a:rPr>
              <a:t>: </a:t>
            </a:r>
            <a:r>
              <a:rPr i="1" lang="en-US">
                <a:latin typeface="Arial"/>
                <a:ea typeface="Arial"/>
                <a:cs typeface="Arial"/>
                <a:sym typeface="Arial"/>
              </a:rPr>
              <a:t>Event Management System with Integrated Email Notification</a:t>
            </a:r>
            <a:endParaRPr i="1">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sz="2400">
                <a:latin typeface="Arial"/>
                <a:ea typeface="Arial"/>
                <a:cs typeface="Arial"/>
                <a:sym typeface="Arial"/>
              </a:rPr>
              <a:t>Authors</a:t>
            </a:r>
            <a:r>
              <a:rPr lang="en-US" sz="2400">
                <a:latin typeface="Arial"/>
                <a:ea typeface="Arial"/>
                <a:cs typeface="Arial"/>
                <a:sym typeface="Arial"/>
              </a:rPr>
              <a:t>: Sara Ahmed, Mohd. Tariq</a:t>
            </a:r>
            <a:endParaRPr sz="2400">
              <a:latin typeface="Arial"/>
              <a:ea typeface="Arial"/>
              <a:cs typeface="Arial"/>
              <a:sym typeface="Arial"/>
            </a:endParaRPr>
          </a:p>
          <a:p>
            <a:pPr indent="-381000" lvl="1" marL="914400" rtl="0" algn="l">
              <a:lnSpc>
                <a:spcPct val="115000"/>
              </a:lnSpc>
              <a:spcBef>
                <a:spcPts val="0"/>
              </a:spcBef>
              <a:spcAft>
                <a:spcPts val="0"/>
              </a:spcAft>
              <a:buSzPts val="2400"/>
              <a:buChar char="○"/>
            </a:pPr>
            <a:r>
              <a:rPr b="1" lang="en-US" sz="2400">
                <a:latin typeface="Arial"/>
                <a:ea typeface="Arial"/>
                <a:cs typeface="Arial"/>
                <a:sym typeface="Arial"/>
              </a:rPr>
              <a:t>Journal</a:t>
            </a:r>
            <a:r>
              <a:rPr lang="en-US" sz="2400">
                <a:latin typeface="Arial"/>
                <a:ea typeface="Arial"/>
                <a:cs typeface="Arial"/>
                <a:sym typeface="Arial"/>
              </a:rPr>
              <a:t>: </a:t>
            </a:r>
            <a:r>
              <a:rPr i="1" lang="en-US" sz="2400">
                <a:latin typeface="Arial"/>
                <a:ea typeface="Arial"/>
                <a:cs typeface="Arial"/>
                <a:sym typeface="Arial"/>
              </a:rPr>
              <a:t>International Journal of Computer Science and Information Technologies (IJCSIT)</a:t>
            </a:r>
            <a:endParaRPr i="1" sz="2400">
              <a:latin typeface="Arial"/>
              <a:ea typeface="Arial"/>
              <a:cs typeface="Arial"/>
              <a:sym typeface="Arial"/>
            </a:endParaRPr>
          </a:p>
          <a:p>
            <a:pPr indent="0" lvl="0" marL="0" rtl="0" algn="l">
              <a:lnSpc>
                <a:spcPct val="114000"/>
              </a:lnSpc>
              <a:spcBef>
                <a:spcPts val="12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p:nvPr/>
        </p:nvSpPr>
        <p:spPr>
          <a:xfrm>
            <a:off x="2532822" y="2321005"/>
            <a:ext cx="4078361"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2"/>
          <p:cNvSpPr/>
          <p:nvPr/>
        </p:nvSpPr>
        <p:spPr>
          <a:xfrm>
            <a:off x="727460" y="2321005"/>
            <a:ext cx="7689093"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p:nvPr/>
        </p:nvSpPr>
        <p:spPr>
          <a:xfrm>
            <a:off x="1844234" y="2321005"/>
            <a:ext cx="5455532" cy="15696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